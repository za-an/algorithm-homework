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7"/>
  </p:sldMasterIdLst>
  <p:sldIdLst>
    <p:sldId id="256" r:id="rId1"/>
    <p:sldId id="257" r:id="rId2"/>
    <p:sldId id="258" r:id="rId3"/>
    <p:sldId id="259" r:id="rId4"/>
    <p:sldId id="260" r:id="rId5"/>
    <p:sldId id="261" r:id="rId6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 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14" name="Rect 14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781050" y="1428750"/>
            <a:ext cx="933450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4400" b="1">
                <a:solidFill>
                  <a:srgbClr val="FFFFFF"/>
                </a:solidFill>
                <a:latin typeface="Microsoft YaHei"/>
                <a:ea typeface="Microsoft YaHei"/>
              </a:rPr>
              <a:t>0/1 背包问题算法实验</a:t>
            </a:r>
            <a:endParaRPr lang="zh-CN" sz="4400"/>
          </a:p>
        </p:txBody>
      </p:sp>
      <p:sp>
        <p:nvSpPr>
          <p:cNvPr id="16" name="Text 16"/>
          <p:cNvSpPr txBox="1"/>
          <p:nvPr/>
        </p:nvSpPr>
        <p:spPr>
          <a:xfrm>
            <a:off x="819150" y="2343150"/>
            <a:ext cx="9334500" cy="4000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600">
                <a:solidFill>
                  <a:srgbClr val="CBD5E1"/>
                </a:solidFill>
                <a:latin typeface="Microsoft YaHei"/>
                <a:ea typeface="Microsoft YaHei"/>
              </a:rPr>
              <a:t>贪心、动态规划、回溯法、分支限界法对比</a:t>
            </a:r>
            <a:endParaRPr lang="zh-CN" sz="2600"/>
          </a:p>
        </p:txBody>
      </p:sp>
      <p:sp>
        <p:nvSpPr>
          <p:cNvPr id="17" name="Text 17"/>
          <p:cNvSpPr txBox="1"/>
          <p:nvPr/>
        </p:nvSpPr>
        <p:spPr>
          <a:xfrm>
            <a:off x="819150" y="5191125"/>
            <a:ext cx="9334500" cy="3238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000">
                <a:solidFill>
                  <a:srgbClr val="E2E8F0"/>
                </a:solidFill>
                <a:latin typeface="Microsoft YaHei"/>
                <a:ea typeface="Microsoft YaHei"/>
              </a:rPr>
              <a:t>数据集：FSU、Unicauca、JorikJooken · 实例数：3279</a:t>
            </a:r>
            <a:endParaRPr lang="zh-CN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2" name="Rect 1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609600" y="400050"/>
            <a:ext cx="9906000" cy="4953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400" b="1">
                <a:solidFill>
                  <a:srgbClr val="111827"/>
                </a:solidFill>
                <a:latin typeface="Microsoft YaHei"/>
                <a:ea typeface="Microsoft YaHei"/>
              </a:rPr>
              <a:t>实验目标与数据</a:t>
            </a:r>
            <a:endParaRPr lang="zh-CN" sz="3400"/>
          </a:p>
        </p:txBody>
      </p:sp>
      <p:sp>
        <p:nvSpPr>
          <p:cNvPr id="14" name="Rect 14"/>
          <p:cNvSpPr/>
          <p:nvPr/>
        </p:nvSpPr>
        <p:spPr>
          <a:xfrm>
            <a:off x="838200" y="1524000"/>
            <a:ext cx="114300" cy="1143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1143000" y="1428750"/>
            <a:ext cx="9334500" cy="3619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300">
                <a:solidFill>
                  <a:srgbClr val="111827"/>
                </a:solidFill>
                <a:latin typeface="Microsoft YaHei"/>
                <a:ea typeface="Microsoft YaHei"/>
              </a:rPr>
              <a:t>统一 3279 个数据实例为 n capacity + weight value 格式</a:t>
            </a:r>
            <a:endParaRPr lang="zh-CN" sz="2300"/>
          </a:p>
        </p:txBody>
      </p:sp>
      <p:sp>
        <p:nvSpPr>
          <p:cNvPr id="16" name="Rect 16"/>
          <p:cNvSpPr/>
          <p:nvPr/>
        </p:nvSpPr>
        <p:spPr>
          <a:xfrm>
            <a:off x="838200" y="2228850"/>
            <a:ext cx="114300" cy="1143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1143000" y="2133600"/>
            <a:ext cx="9334500" cy="3619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300">
                <a:solidFill>
                  <a:srgbClr val="111827"/>
                </a:solidFill>
                <a:latin typeface="Microsoft YaHei"/>
                <a:ea typeface="Microsoft YaHei"/>
              </a:rPr>
              <a:t>比较四类算法的求解质量、运行时间和估算内存</a:t>
            </a:r>
            <a:endParaRPr lang="zh-CN" sz="2300"/>
          </a:p>
        </p:txBody>
      </p:sp>
      <p:sp>
        <p:nvSpPr>
          <p:cNvPr id="18" name="Rect 18"/>
          <p:cNvSpPr/>
          <p:nvPr/>
        </p:nvSpPr>
        <p:spPr>
          <a:xfrm>
            <a:off x="838200" y="2933700"/>
            <a:ext cx="114300" cy="1143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1143000" y="2838450"/>
            <a:ext cx="9334500" cy="3619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300">
                <a:solidFill>
                  <a:srgbClr val="111827"/>
                </a:solidFill>
                <a:latin typeface="Microsoft YaHei"/>
                <a:ea typeface="Microsoft YaHei"/>
              </a:rPr>
              <a:t>输出 CSV、JSON、Markdown 摘要和 SVG 图表</a:t>
            </a:r>
            <a:endParaRPr lang="zh-CN" sz="2300"/>
          </a:p>
        </p:txBody>
      </p:sp>
      <p:sp>
        <p:nvSpPr>
          <p:cNvPr id="20" name="Text 20"/>
          <p:cNvSpPr txBox="1"/>
          <p:nvPr/>
        </p:nvSpPr>
        <p:spPr>
          <a:xfrm>
            <a:off x="609600" y="634365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>
                <a:solidFill>
                  <a:srgbClr val="475569"/>
                </a:solidFill>
                <a:latin typeface="Microsoft YaHei"/>
                <a:ea typeface="Microsoft YaHei"/>
              </a:rPr>
              <a:t>0/1 Knapsack Experiment</a:t>
            </a:r>
            <a:endParaRPr lang="zh-CN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2" name="Rect 1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609600" y="400050"/>
            <a:ext cx="9906000" cy="4953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400" b="1">
                <a:solidFill>
                  <a:srgbClr val="111827"/>
                </a:solidFill>
                <a:latin typeface="Microsoft YaHei"/>
                <a:ea typeface="Microsoft YaHei"/>
              </a:rPr>
              <a:t>四类算法实现</a:t>
            </a:r>
            <a:endParaRPr lang="zh-CN" sz="3400"/>
          </a:p>
        </p:txBody>
      </p:sp>
      <p:sp>
        <p:nvSpPr>
          <p:cNvPr id="14" name="Rect 14"/>
          <p:cNvSpPr/>
          <p:nvPr/>
        </p:nvSpPr>
        <p:spPr>
          <a:xfrm>
            <a:off x="838200" y="1524000"/>
            <a:ext cx="114300" cy="1143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1143000" y="1428750"/>
            <a:ext cx="9334500" cy="3619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300">
                <a:solidFill>
                  <a:srgbClr val="111827"/>
                </a:solidFill>
                <a:latin typeface="Microsoft YaHei"/>
                <a:ea typeface="Microsoft YaHei"/>
              </a:rPr>
              <a:t>Greedy：按 value/weight 排序，快速近似</a:t>
            </a:r>
            <a:endParaRPr lang="zh-CN" sz="2300"/>
          </a:p>
        </p:txBody>
      </p:sp>
      <p:sp>
        <p:nvSpPr>
          <p:cNvPr id="16" name="Rect 16"/>
          <p:cNvSpPr/>
          <p:nvPr/>
        </p:nvSpPr>
        <p:spPr>
          <a:xfrm>
            <a:off x="838200" y="2228850"/>
            <a:ext cx="114300" cy="1143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1143000" y="2133600"/>
            <a:ext cx="9334500" cy="3619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300">
                <a:solidFill>
                  <a:srgbClr val="111827"/>
                </a:solidFill>
                <a:latin typeface="Microsoft YaHei"/>
                <a:ea typeface="Microsoft YaHei"/>
              </a:rPr>
              <a:t>DP：一维滚动数组求精确解，并恢复选择路径</a:t>
            </a:r>
            <a:endParaRPr lang="zh-CN" sz="2300"/>
          </a:p>
        </p:txBody>
      </p:sp>
      <p:sp>
        <p:nvSpPr>
          <p:cNvPr id="18" name="Rect 18"/>
          <p:cNvSpPr/>
          <p:nvPr/>
        </p:nvSpPr>
        <p:spPr>
          <a:xfrm>
            <a:off x="838200" y="2933700"/>
            <a:ext cx="114300" cy="1143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1143000" y="2838450"/>
            <a:ext cx="9334500" cy="3619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300">
                <a:solidFill>
                  <a:srgbClr val="111827"/>
                </a:solidFill>
                <a:latin typeface="Microsoft YaHei"/>
                <a:ea typeface="Microsoft YaHei"/>
              </a:rPr>
              <a:t>Backtracking：分数背包上界剪枝</a:t>
            </a:r>
            <a:endParaRPr lang="zh-CN" sz="2300"/>
          </a:p>
        </p:txBody>
      </p:sp>
      <p:sp>
        <p:nvSpPr>
          <p:cNvPr id="20" name="Rect 20"/>
          <p:cNvSpPr/>
          <p:nvPr/>
        </p:nvSpPr>
        <p:spPr>
          <a:xfrm>
            <a:off x="838200" y="3638550"/>
            <a:ext cx="114300" cy="1143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1143000" y="3543300"/>
            <a:ext cx="9334500" cy="3619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300">
                <a:solidFill>
                  <a:srgbClr val="111827"/>
                </a:solidFill>
                <a:latin typeface="Microsoft YaHei"/>
                <a:ea typeface="Microsoft YaHei"/>
              </a:rPr>
              <a:t>Branch Bound：优先队列按上界扩展节点</a:t>
            </a:r>
            <a:endParaRPr lang="zh-CN" sz="2300"/>
          </a:p>
        </p:txBody>
      </p:sp>
      <p:sp>
        <p:nvSpPr>
          <p:cNvPr id="22" name="Text 22"/>
          <p:cNvSpPr txBox="1"/>
          <p:nvPr/>
        </p:nvSpPr>
        <p:spPr>
          <a:xfrm>
            <a:off x="609600" y="634365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>
                <a:solidFill>
                  <a:srgbClr val="475569"/>
                </a:solidFill>
                <a:latin typeface="Microsoft YaHei"/>
                <a:ea typeface="Microsoft YaHei"/>
              </a:rPr>
              <a:t>0/1 Knapsack Experiment</a:t>
            </a:r>
            <a:endParaRPr lang="zh-CN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2" name="Rect 1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609600" y="400050"/>
            <a:ext cx="9906000" cy="4953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400" b="1">
                <a:solidFill>
                  <a:srgbClr val="111827"/>
                </a:solidFill>
                <a:latin typeface="Microsoft YaHei"/>
                <a:ea typeface="Microsoft YaHei"/>
              </a:rPr>
              <a:t>实验参数</a:t>
            </a:r>
            <a:endParaRPr lang="zh-CN" sz="3400"/>
          </a:p>
        </p:txBody>
      </p:sp>
      <p:sp>
        <p:nvSpPr>
          <p:cNvPr id="14" name="Rect 14"/>
          <p:cNvSpPr/>
          <p:nvPr/>
        </p:nvSpPr>
        <p:spPr>
          <a:xfrm>
            <a:off x="838200" y="1524000"/>
            <a:ext cx="114300" cy="1143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1143000" y="1428750"/>
            <a:ext cx="9334500" cy="3619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300">
                <a:solidFill>
                  <a:srgbClr val="111827"/>
                </a:solidFill>
                <a:latin typeface="Microsoft YaHei"/>
                <a:ea typeface="Microsoft YaHei"/>
              </a:rPr>
              <a:t>数据目录：data</a:t>
            </a:r>
            <a:endParaRPr lang="zh-CN" sz="2300"/>
          </a:p>
        </p:txBody>
      </p:sp>
      <p:sp>
        <p:nvSpPr>
          <p:cNvPr id="16" name="Rect 16"/>
          <p:cNvSpPr/>
          <p:nvPr/>
        </p:nvSpPr>
        <p:spPr>
          <a:xfrm>
            <a:off x="838200" y="2228850"/>
            <a:ext cx="114300" cy="1143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1143000" y="2133600"/>
            <a:ext cx="9334500" cy="3619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300">
                <a:solidFill>
                  <a:srgbClr val="111827"/>
                </a:solidFill>
                <a:latin typeface="Microsoft YaHei"/>
                <a:ea typeface="Microsoft YaHei"/>
              </a:rPr>
              <a:t>输出目录：experiments</a:t>
            </a:r>
            <a:endParaRPr lang="zh-CN" sz="2300"/>
          </a:p>
        </p:txBody>
      </p:sp>
      <p:sp>
        <p:nvSpPr>
          <p:cNvPr id="18" name="Rect 18"/>
          <p:cNvSpPr/>
          <p:nvPr/>
        </p:nvSpPr>
        <p:spPr>
          <a:xfrm>
            <a:off x="838200" y="2933700"/>
            <a:ext cx="114300" cy="1143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1143000" y="2838450"/>
            <a:ext cx="9334500" cy="3619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300">
                <a:solidFill>
                  <a:srgbClr val="111827"/>
                </a:solidFill>
                <a:latin typeface="Microsoft YaHei"/>
                <a:ea typeface="Microsoft YaHei"/>
              </a:rPr>
              <a:t>动态规划状态阈值：50000000</a:t>
            </a:r>
            <a:endParaRPr lang="zh-CN" sz="2300"/>
          </a:p>
        </p:txBody>
      </p:sp>
      <p:sp>
        <p:nvSpPr>
          <p:cNvPr id="20" name="Rect 20"/>
          <p:cNvSpPr/>
          <p:nvPr/>
        </p:nvSpPr>
        <p:spPr>
          <a:xfrm>
            <a:off x="838200" y="3638550"/>
            <a:ext cx="114300" cy="1143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1143000" y="3543300"/>
            <a:ext cx="9334500" cy="3619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300">
                <a:solidFill>
                  <a:srgbClr val="111827"/>
                </a:solidFill>
                <a:latin typeface="Microsoft YaHei"/>
                <a:ea typeface="Microsoft YaHei"/>
              </a:rPr>
              <a:t>回溯法和分支限界法物品数阈值：30</a:t>
            </a:r>
            <a:endParaRPr lang="zh-CN" sz="2300"/>
          </a:p>
        </p:txBody>
      </p:sp>
      <p:sp>
        <p:nvSpPr>
          <p:cNvPr id="22" name="Text 22"/>
          <p:cNvSpPr txBox="1"/>
          <p:nvPr/>
        </p:nvSpPr>
        <p:spPr>
          <a:xfrm>
            <a:off x="609600" y="634365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>
                <a:solidFill>
                  <a:srgbClr val="475569"/>
                </a:solidFill>
                <a:latin typeface="Microsoft YaHei"/>
                <a:ea typeface="Microsoft YaHei"/>
              </a:rPr>
              <a:t>0/1 Knapsack Experiment</a:t>
            </a:r>
            <a:endParaRPr lang="zh-CN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2" name="Rect 1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609600" y="400050"/>
            <a:ext cx="9906000" cy="4953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400" b="1">
                <a:solidFill>
                  <a:srgbClr val="111827"/>
                </a:solidFill>
                <a:latin typeface="Microsoft YaHei"/>
                <a:ea typeface="Microsoft YaHei"/>
              </a:rPr>
              <a:t>结果观察</a:t>
            </a:r>
            <a:endParaRPr lang="zh-CN" sz="3400"/>
          </a:p>
        </p:txBody>
      </p:sp>
      <p:sp>
        <p:nvSpPr>
          <p:cNvPr id="14" name="Rect 14"/>
          <p:cNvSpPr/>
          <p:nvPr/>
        </p:nvSpPr>
        <p:spPr>
          <a:xfrm>
            <a:off x="838200" y="1524000"/>
            <a:ext cx="114300" cy="1143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1143000" y="1428750"/>
            <a:ext cx="9334500" cy="3619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300">
                <a:solidFill>
                  <a:srgbClr val="111827"/>
                </a:solidFill>
                <a:latin typeface="Microsoft YaHei"/>
                <a:ea typeface="Microsoft YaHei"/>
              </a:rPr>
              <a:t>贪心速度最快，但部分实例不是最优</a:t>
            </a:r>
            <a:endParaRPr lang="zh-CN" sz="2300"/>
          </a:p>
        </p:txBody>
      </p:sp>
      <p:sp>
        <p:nvSpPr>
          <p:cNvPr id="16" name="Rect 16"/>
          <p:cNvSpPr/>
          <p:nvPr/>
        </p:nvSpPr>
        <p:spPr>
          <a:xfrm>
            <a:off x="838200" y="2228850"/>
            <a:ext cx="114300" cy="1143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1143000" y="2133600"/>
            <a:ext cx="9334500" cy="3619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300">
                <a:solidFill>
                  <a:srgbClr val="111827"/>
                </a:solidFill>
                <a:latin typeface="Microsoft YaHei"/>
                <a:ea typeface="Microsoft YaHei"/>
              </a:rPr>
              <a:t>动态规划适合容量和状态数可控的实例</a:t>
            </a:r>
            <a:endParaRPr lang="zh-CN" sz="2300"/>
          </a:p>
        </p:txBody>
      </p:sp>
      <p:sp>
        <p:nvSpPr>
          <p:cNvPr id="18" name="Rect 18"/>
          <p:cNvSpPr/>
          <p:nvPr/>
        </p:nvSpPr>
        <p:spPr>
          <a:xfrm>
            <a:off x="838200" y="2933700"/>
            <a:ext cx="114300" cy="1143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1143000" y="2838450"/>
            <a:ext cx="9334500" cy="3619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300">
                <a:solidFill>
                  <a:srgbClr val="111827"/>
                </a:solidFill>
                <a:latin typeface="Microsoft YaHei"/>
                <a:ea typeface="Microsoft YaHei"/>
              </a:rPr>
              <a:t>回溯法和分支限界法适合小规模精确求解</a:t>
            </a:r>
            <a:endParaRPr lang="zh-CN" sz="2300"/>
          </a:p>
        </p:txBody>
      </p:sp>
      <p:sp>
        <p:nvSpPr>
          <p:cNvPr id="20" name="Rect 20"/>
          <p:cNvSpPr/>
          <p:nvPr/>
        </p:nvSpPr>
        <p:spPr>
          <a:xfrm>
            <a:off x="838200" y="3638550"/>
            <a:ext cx="114300" cy="1143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1143000" y="3543300"/>
            <a:ext cx="9334500" cy="3619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300">
                <a:solidFill>
                  <a:srgbClr val="111827"/>
                </a:solidFill>
                <a:latin typeface="Microsoft YaHei"/>
                <a:ea typeface="Microsoft YaHei"/>
              </a:rPr>
              <a:t>大规模实例通过 skipped 记录避免中断实验</a:t>
            </a:r>
            <a:endParaRPr lang="zh-CN" sz="2300"/>
          </a:p>
        </p:txBody>
      </p:sp>
      <p:sp>
        <p:nvSpPr>
          <p:cNvPr id="22" name="Text 22"/>
          <p:cNvSpPr txBox="1"/>
          <p:nvPr/>
        </p:nvSpPr>
        <p:spPr>
          <a:xfrm>
            <a:off x="609600" y="634365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>
                <a:solidFill>
                  <a:srgbClr val="475569"/>
                </a:solidFill>
                <a:latin typeface="Microsoft YaHei"/>
                <a:ea typeface="Microsoft YaHei"/>
              </a:rPr>
              <a:t>0/1 Knapsack Experiment</a:t>
            </a:r>
            <a:endParaRPr lang="zh-CN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2" name="Rect 1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609600" y="400050"/>
            <a:ext cx="9906000" cy="4953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400" b="1">
                <a:solidFill>
                  <a:srgbClr val="111827"/>
                </a:solidFill>
                <a:latin typeface="Microsoft YaHei"/>
                <a:ea typeface="Microsoft YaHei"/>
              </a:rPr>
              <a:t>提交结构</a:t>
            </a:r>
            <a:endParaRPr lang="zh-CN" sz="3400"/>
          </a:p>
        </p:txBody>
      </p:sp>
      <p:sp>
        <p:nvSpPr>
          <p:cNvPr id="14" name="Rect 14"/>
          <p:cNvSpPr/>
          <p:nvPr/>
        </p:nvSpPr>
        <p:spPr>
          <a:xfrm>
            <a:off x="838200" y="1524000"/>
            <a:ext cx="114300" cy="1143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1143000" y="1428750"/>
            <a:ext cx="9334500" cy="3619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300">
                <a:solidFill>
                  <a:srgbClr val="111827"/>
                </a:solidFill>
                <a:latin typeface="Microsoft YaHei"/>
                <a:ea typeface="Microsoft YaHei"/>
              </a:rPr>
              <a:t>src：C++17 程序文件</a:t>
            </a:r>
            <a:endParaRPr lang="zh-CN" sz="2300"/>
          </a:p>
        </p:txBody>
      </p:sp>
      <p:sp>
        <p:nvSpPr>
          <p:cNvPr id="16" name="Rect 16"/>
          <p:cNvSpPr/>
          <p:nvPr/>
        </p:nvSpPr>
        <p:spPr>
          <a:xfrm>
            <a:off x="838200" y="2228850"/>
            <a:ext cx="114300" cy="1143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1143000" y="2133600"/>
            <a:ext cx="9334500" cy="3619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300">
                <a:solidFill>
                  <a:srgbClr val="111827"/>
                </a:solidFill>
                <a:latin typeface="Microsoft YaHei"/>
                <a:ea typeface="Microsoft YaHei"/>
              </a:rPr>
              <a:t>data：统一命名的数据文件</a:t>
            </a:r>
            <a:endParaRPr lang="zh-CN" sz="2300"/>
          </a:p>
        </p:txBody>
      </p:sp>
      <p:sp>
        <p:nvSpPr>
          <p:cNvPr id="18" name="Rect 18"/>
          <p:cNvSpPr/>
          <p:nvPr/>
        </p:nvSpPr>
        <p:spPr>
          <a:xfrm>
            <a:off x="838200" y="2933700"/>
            <a:ext cx="114300" cy="1143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1143000" y="2838450"/>
            <a:ext cx="9334500" cy="3619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300">
                <a:solidFill>
                  <a:srgbClr val="111827"/>
                </a:solidFill>
                <a:latin typeface="Microsoft YaHei"/>
                <a:ea typeface="Microsoft YaHei"/>
              </a:rPr>
              <a:t>experiments：实验结果文件</a:t>
            </a:r>
            <a:endParaRPr lang="zh-CN" sz="2300"/>
          </a:p>
        </p:txBody>
      </p:sp>
      <p:sp>
        <p:nvSpPr>
          <p:cNvPr id="20" name="Rect 20"/>
          <p:cNvSpPr/>
          <p:nvPr/>
        </p:nvSpPr>
        <p:spPr>
          <a:xfrm>
            <a:off x="838200" y="3638550"/>
            <a:ext cx="114300" cy="1143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1143000" y="3543300"/>
            <a:ext cx="9334500" cy="36195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300">
                <a:solidFill>
                  <a:srgbClr val="111827"/>
                </a:solidFill>
                <a:latin typeface="Microsoft YaHei"/>
                <a:ea typeface="Microsoft YaHei"/>
              </a:rPr>
              <a:t>reports：实验报告、PPT、讲解视频</a:t>
            </a:r>
            <a:endParaRPr lang="zh-CN" sz="2300"/>
          </a:p>
        </p:txBody>
      </p:sp>
      <p:sp>
        <p:nvSpPr>
          <p:cNvPr id="22" name="Text 22"/>
          <p:cNvSpPr txBox="1"/>
          <p:nvPr/>
        </p:nvSpPr>
        <p:spPr>
          <a:xfrm>
            <a:off x="609600" y="634365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>
                <a:solidFill>
                  <a:srgbClr val="475569"/>
                </a:solidFill>
                <a:latin typeface="Microsoft YaHei"/>
                <a:ea typeface="Microsoft YaHei"/>
              </a:rPr>
              <a:t>0/1 Knapsack Experiment</a:t>
            </a:r>
            <a:endParaRPr lang="zh-CN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2937"/>
      </a:dk2>
      <a:lt2>
        <a:srgbClr val="F8FAFC"/>
      </a:lt2>
      <a:accent1>
        <a:srgbClr val="2563EB"/>
      </a:accent1>
      <a:accent2>
        <a:srgbClr val="059669"/>
      </a:accent2>
      <a:accent3>
        <a:srgbClr val="D97706"/>
      </a:accent3>
      <a:accent4>
        <a:srgbClr val="DC2626"/>
      </a:accent4>
      <a:accent5>
        <a:srgbClr val="475569"/>
      </a:accent5>
      <a:accent6>
        <a:srgbClr val="CBD5E1"/>
      </a:accent6>
      <a:hlink>
        <a:srgbClr val="2563EB"/>
      </a:hlink>
      <a:folHlink>
        <a:srgbClr val="7C3AED"/>
      </a:folHlink>
    </a:clrScheme>
    <a:fontScheme name="Office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Codex</Application>
  <Slides>6</Slides>
</Properties>
</file>

<file path=docProps/core.xml><?xml version="1.0" encoding="utf-8"?>
<cp:coreProperties xmlns:cp="http://schemas.openxmlformats.org/package/2006/metadata/core-properties" xmlns:dc="http://purl.org/dc/elements/1.1/">
  <dc:title>0/1 背包问题算法实验</dc:title>
  <dc:creator>Codex</dc:creator>
</cp:coreProperties>
</file>